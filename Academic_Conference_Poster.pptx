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42062400" cy="4114800"/>
          </a:xfrm>
          <a:prstGeom prst="rect">
            <a:avLst/>
          </a:prstGeom>
          <a:solidFill>
            <a:srgbClr val="102C57"/>
          </a:solidFill>
          <a:ln>
            <a:solidFill>
              <a:srgbClr val="1A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tIns="365760"/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An Empirically Audited Machine Learning and Stochastic Inventory Control Framework for Enterprise Replenishment Decision Support</a:t>
            </a:r>
          </a:p>
          <a:p>
            <a:pPr algn="ctr">
              <a:spcBef>
                <a:spcPts val="1600"/>
              </a:spcBef>
              <a:defRPr sz="2200">
                <a:solidFill>
                  <a:srgbClr val="D2E6FF"/>
                </a:solidFill>
                <a:latin typeface="Arial"/>
              </a:defRPr>
            </a:pPr>
            <a:r>
              <a:t>Sashank P., Abhinay Sai, Poli Naidu, and Sushama Rani Dutta | Department of Computer Science and Engineering, Koneru Lakshmaiah Education Foundation, Hyderabad, India | Email: sashank.p@klh.edu.in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486400"/>
            <a:ext cx="13258800" cy="1234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486400"/>
            <a:ext cx="13258800" cy="1005840"/>
          </a:xfrm>
          <a:prstGeom prst="rect">
            <a:avLst/>
          </a:prstGeom>
          <a:solidFill>
            <a:srgbClr val="1A4D8A"/>
          </a:solidFill>
          <a:ln>
            <a:solidFill>
              <a:srgbClr val="1A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1. MOTIVATION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766560"/>
            <a:ext cx="12527280" cy="1078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C57"/>
                </a:solidFill>
                <a:latin typeface="Arial"/>
              </a:defRPr>
            </a:pPr>
            <a:r>
              <a:t>The Supply Chain Penalty Asymmetry:</a:t>
            </a:r>
          </a:p>
          <a:p>
            <a:pPr>
              <a:spcBef>
                <a:spcPts val="1200"/>
              </a:spcBef>
              <a:defRPr sz="1700">
                <a:solidFill>
                  <a:srgbClr val="282828"/>
                </a:solidFill>
                <a:latin typeface="Arial"/>
              </a:defRPr>
            </a:pPr>
            <a:r>
              <a:t>• Stockouts inflict catastrophic lost margins, SLA breach penalties, and permanent customer churn.</a:t>
            </a:r>
          </a:p>
          <a:p>
            <a:pPr>
              <a:spcBef>
                <a:spcPts val="1200"/>
              </a:spcBef>
              <a:defRPr sz="1700">
                <a:solidFill>
                  <a:srgbClr val="282828"/>
                </a:solidFill>
                <a:latin typeface="Arial"/>
              </a:defRPr>
            </a:pPr>
            <a:r>
              <a:t>• Excess buffer inventory incurs only marginal holding capital charges (~20%/yr). Shortage costs exceed holding costs by 10x-50x.</a:t>
            </a:r>
          </a:p>
          <a:p>
            <a:pPr>
              <a:spcBef>
                <a:spcPts val="1200"/>
              </a:spcBef>
              <a:defRPr sz="1700">
                <a:solidFill>
                  <a:srgbClr val="282828"/>
                </a:solidFill>
                <a:latin typeface="Arial"/>
              </a:defRPr>
            </a:pPr>
            <a:r>
              <a:t>• Conventional ERPs evaluate models on symmetric point loss (MAE/RMSE), ignoring error direction and penalizing over- and under-forecasting equally.</a:t>
            </a:r>
          </a:p>
          <a:p>
            <a:pPr>
              <a:spcBef>
                <a:spcPts val="1200"/>
              </a:spcBef>
              <a:defRPr sz="1700">
                <a:solidFill>
                  <a:srgbClr val="282828"/>
                </a:solidFill>
                <a:latin typeface="Arial"/>
              </a:defRPr>
            </a:pPr>
            <a:r>
              <a:t>• Popular competition transforms (Log1p, Tweedie) induce severe negative bias, starving replenishment buffers.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0"/>
            <a:ext cx="13258800" cy="1325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8288000"/>
            <a:ext cx="13258800" cy="1005840"/>
          </a:xfrm>
          <a:prstGeom prst="rect">
            <a:avLst/>
          </a:prstGeom>
          <a:solidFill>
            <a:srgbClr val="1A4D8A"/>
          </a:solidFill>
          <a:ln>
            <a:solidFill>
              <a:srgbClr val="1A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2. THEORETICAL PROOFS &amp; DERIVATIONS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568160"/>
            <a:ext cx="12527280" cy="1170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1A4D8A"/>
                </a:solidFill>
                <a:latin typeface="Arial"/>
              </a:defRPr>
            </a:pPr>
            <a:r>
              <a:t>Theorem 1: Jensen's Inequality Deficit</a:t>
            </a:r>
          </a:p>
          <a:p>
            <a:pPr>
              <a:spcBef>
                <a:spcPts val="400"/>
              </a:spcBef>
              <a:defRPr sz="1500">
                <a:solidFill>
                  <a:srgbClr val="282828"/>
                </a:solidFill>
                <a:latin typeface="Arial"/>
              </a:defRPr>
            </a:pPr>
            <a:r>
              <a:t>When models fit MSE on z = ln(1+y), naive exponentiation ŷ = exp(ẑ)-1 estimates conditional geometric median rather than conditional mean:</a:t>
            </a:r>
            <a:br/>
            <a:r>
              <a:t>E[ln(1+Y)] &lt; ln(1+E[Y])  ⟹  ŷ_naive &lt; E[Y]</a:t>
            </a:r>
            <a:br/>
            <a:r>
              <a:t>Causes -55.9% to -81.3% negative bias starving buffers.</a:t>
            </a:r>
          </a:p>
          <a:p>
            <a:pPr>
              <a:spcBef>
                <a:spcPts val="800"/>
              </a:spcBef>
              <a:defRPr sz="1800" b="1">
                <a:solidFill>
                  <a:srgbClr val="1A4D8A"/>
                </a:solidFill>
                <a:latin typeface="Arial"/>
              </a:defRPr>
            </a:pPr>
            <a:r>
              <a:t>Theorem 2: Tweedie Zero-Gradient Divergence</a:t>
            </a:r>
          </a:p>
          <a:p>
            <a:pPr>
              <a:spcBef>
                <a:spcPts val="400"/>
              </a:spcBef>
              <a:defRPr sz="1500">
                <a:solidFill>
                  <a:srgbClr val="282828"/>
                </a:solidFill>
                <a:latin typeface="Arial"/>
              </a:defRPr>
            </a:pPr>
            <a:r>
              <a:t>For compound Poisson-Gamma deviance (p=1.5):</a:t>
            </a:r>
            <a:br/>
            <a:r>
              <a:t>∂d(0, μ)/∂μ = 2/√μ  ⟹  lim_{μ→0+} ∂d(0, μ)/∂μ = +∞</a:t>
            </a:r>
            <a:br/>
            <a:r>
              <a:t>Infinite gradient penalty at zero pulls predictions downward.</a:t>
            </a:r>
          </a:p>
          <a:p>
            <a:pPr>
              <a:spcBef>
                <a:spcPts val="800"/>
              </a:spcBef>
              <a:defRPr sz="1800" b="1">
                <a:solidFill>
                  <a:srgbClr val="1A4D8A"/>
                </a:solidFill>
                <a:latin typeface="Arial"/>
              </a:defRPr>
            </a:pPr>
            <a:r>
              <a:t>Theorem 3: Eve's Law of Total Variance</a:t>
            </a:r>
          </a:p>
          <a:p>
            <a:pPr>
              <a:spcBef>
                <a:spcPts val="400"/>
              </a:spcBef>
              <a:defRPr sz="1500">
                <a:solidFill>
                  <a:srgbClr val="282828"/>
                </a:solidFill>
                <a:latin typeface="Arial"/>
              </a:defRPr>
            </a:pPr>
            <a:r>
              <a:t>Sizing safety stock across stochastic lead times L and residual forecast error variance σ_e^2:</a:t>
            </a:r>
            <a:br/>
            <a:r>
              <a:t>σ_{D_L}^2 = L̄ σ_e^2 + d̂^2 σ_L^2,    SS = Z_α σ_{D_L}</a:t>
            </a:r>
            <a:br/>
            <a:r>
              <a:t>Liberates 49.9% of safety buffer working capital.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0" y="5486400"/>
            <a:ext cx="13716000" cy="1234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0" y="5486400"/>
            <a:ext cx="13716000" cy="1005840"/>
          </a:xfrm>
          <a:prstGeom prst="rect">
            <a:avLst/>
          </a:prstGeom>
          <a:solidFill>
            <a:srgbClr val="1A4D8A"/>
          </a:solidFill>
          <a:ln>
            <a:solidFill>
              <a:srgbClr val="1A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3. SYSTEM METHODOLOGY &amp; WORKFLOW</a:t>
            </a:r>
          </a:p>
        </p:txBody>
      </p:sp>
      <p:pic>
        <p:nvPicPr>
          <p:cNvPr id="12" name="Picture 11" descr="fig1_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0" y="6766560"/>
            <a:ext cx="12801600" cy="61424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0" y="12070080"/>
            <a:ext cx="12801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  <a:latin typeface="Arial"/>
              </a:defRPr>
            </a:pPr>
            <a:r>
              <a:t>Key Pipeline Innovations:</a:t>
            </a:r>
            <a:br/>
            <a:r>
              <a:t>• Strictly chronological forward-filled prices eliminating lookahead leakage.</a:t>
            </a:r>
            <a:br/>
            <a:r>
              <a:t>• 3-fold expanding-window walk-forward validation on locked holdouts.</a:t>
            </a:r>
            <a:br/>
            <a:r>
              <a:t>• Platt-calibrated LightGBM Demand Surge Classifier (AUC = 0.928).</a:t>
            </a:r>
            <a:br/>
            <a:r>
              <a:t>• Closed-loop continuous-review (s, Q) replenishment governed by Trigg's tracking signal.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0" y="18288000"/>
            <a:ext cx="13716000" cy="1325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087600" y="18288000"/>
            <a:ext cx="13716000" cy="1005840"/>
          </a:xfrm>
          <a:prstGeom prst="rect">
            <a:avLst/>
          </a:prstGeom>
          <a:solidFill>
            <a:srgbClr val="1A4D8A"/>
          </a:solidFill>
          <a:ln>
            <a:solidFill>
              <a:srgbClr val="1A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4. MULTI-REGIME HOLDOUT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0" y="19568160"/>
            <a:ext cx="12801600" cy="1170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C57"/>
                </a:solidFill>
                <a:latin typeface="Arial"/>
              </a:defRPr>
            </a:pPr>
            <a:r>
              <a:t>Cross-Regime Empirical Verification:</a:t>
            </a:r>
          </a:p>
          <a:p>
            <a:pPr>
              <a:spcBef>
                <a:spcPts val="8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t>1. Walmart Weekly Sales (45 Stores):</a:t>
            </a:r>
            <a:br/>
            <a:r>
              <a:t>• Random Forest Winner: MAE $35,624.48 (R² = 0.9905, Bias = -0.28%).</a:t>
            </a:r>
            <a:br/>
            <a:r>
              <a:t>• 29.9% error reduction over Naive Lag-1 baseline ($50,865).</a:t>
            </a:r>
          </a:p>
          <a:p>
            <a:pPr>
              <a:spcBef>
                <a:spcPts val="8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t>2. Online Retail Daily Wholesale (541k Transactions):</a:t>
            </a:r>
            <a:br/>
            <a:r>
              <a:t>• Log1p XGBoost minimized point MAE (72.2 u) but suffered -57.18% bias.</a:t>
            </a:r>
            <a:br/>
            <a:r>
              <a:t>• Random Forest Champion: MAE 90.57 u with +3.14% bias, satisfying safeguard.</a:t>
            </a:r>
          </a:p>
          <a:p>
            <a:pPr>
              <a:spcBef>
                <a:spcPts val="800"/>
              </a:spcBef>
              <a:defRPr sz="1600">
                <a:solidFill>
                  <a:srgbClr val="282828"/>
                </a:solidFill>
                <a:latin typeface="Arial"/>
              </a:defRPr>
            </a:pPr>
            <a:r>
              <a:t>3. M5 Intermittent Grocery (63.3% Zeros):</a:t>
            </a:r>
            <a:br/>
            <a:r>
              <a:t>• Croston SBA collapsed into -58.97% bias starvation.</a:t>
            </a:r>
            <a:br/>
            <a:r>
              <a:t>• XGBoost Tweedie had -11.87% bias.</a:t>
            </a:r>
            <a:br/>
            <a:r>
              <a:t>• Random Forest delivered robust anti-stockout replenishment buffers.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0" y="5486400"/>
            <a:ext cx="13258800" cy="1234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718000" y="5486400"/>
            <a:ext cx="13258800" cy="1005840"/>
          </a:xfrm>
          <a:prstGeom prst="rect">
            <a:avLst/>
          </a:prstGeom>
          <a:solidFill>
            <a:srgbClr val="1A4D8A"/>
          </a:solidFill>
          <a:ln>
            <a:solidFill>
              <a:srgbClr val="1A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5. LONGITUDINAL POLICY SIMULATION</a:t>
            </a:r>
          </a:p>
        </p:txBody>
      </p:sp>
      <p:pic>
        <p:nvPicPr>
          <p:cNvPr id="19" name="Picture 18" descr="fig7_policy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0" y="6766560"/>
            <a:ext cx="12344400" cy="39090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0175200" y="11430000"/>
            <a:ext cx="12344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  <a:latin typeface="Arial"/>
              </a:defRPr>
            </a:pPr>
            <a:r>
              <a:t>Benchmark Across 8,000 Demand Steps:</a:t>
            </a:r>
            <a:br/>
            <a:r>
              <a:t>• Policy C (Proposed Bias-Constrained): 100.0% Fill Rate, 0 Stockout Days, $9,210 Operating Cost (92.9% reduction vs. Policy B).</a:t>
            </a:r>
            <a:br/>
            <a:r>
              <a:t>• Policy B (Min MAE): 81.40% Fill Rate, 24 Stockouts, $128,540 Cost.</a:t>
            </a:r>
            <a:br/>
            <a:r>
              <a:t>• Sizing buffers via Eve's Law liberated 49.9% of safety buffer working capital ($135.7k vs. $270.8k).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0" y="18288000"/>
            <a:ext cx="13258800" cy="1325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0" y="18288000"/>
            <a:ext cx="13258800" cy="1005840"/>
          </a:xfrm>
          <a:prstGeom prst="rect">
            <a:avLst/>
          </a:prstGeom>
          <a:solidFill>
            <a:srgbClr val="1A4D8A"/>
          </a:solidFill>
          <a:ln>
            <a:solidFill>
              <a:srgbClr val="1A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6. TELEMETRY &amp; ENTERPRISE TAKEAWAYS</a:t>
            </a:r>
          </a:p>
        </p:txBody>
      </p:sp>
      <p:pic>
        <p:nvPicPr>
          <p:cNvPr id="23" name="Picture 22" descr="fig9_telemetry_traje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0" y="19568160"/>
            <a:ext cx="12344400" cy="51846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0175200" y="25420320"/>
            <a:ext cx="123444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>
                <a:solidFill>
                  <a:srgbClr val="282828"/>
                </a:solidFill>
                <a:latin typeface="Arial"/>
              </a:defRPr>
            </a:pPr>
            <a:r>
              <a:t>Key Enterprise Recommendations:</a:t>
            </a:r>
            <a:br/>
            <a:r>
              <a:t>1. Never select replenishment models purely by point error (MAE/RMSE).</a:t>
            </a:r>
            <a:br/>
            <a:r>
              <a:t>2. Mandate operational percentage bias bounds (|Bias %| ≤ 5.0%).</a:t>
            </a:r>
            <a:br/>
            <a:r>
              <a:t>3. Size buffers strictly from residual error variance (σ_e) via Eve's Law.</a:t>
            </a:r>
            <a:br/>
            <a:r>
              <a:t>4. Deploy Trigg's tracking signal for real-time drift detection.</a:t>
            </a:r>
            <a:br/>
            <a:r>
              <a:t>5. Full code &amp; 18-section notebook runnable on Google Colab (90/90 tests passing).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