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8B4FF"/>
                </a:solidFill>
                <a:latin typeface="Arial"/>
              </a:defRPr>
            </a:pPr>
            <a:r>
              <a:t>RESEARCH DEFENSE &amp; EXECUTIVE BRIEFING</a:t>
            </a:r>
          </a:p>
          <a:p>
            <a:pPr>
              <a:spcBef>
                <a:spcPts val="1400"/>
              </a:spcBef>
              <a:spcAft>
                <a:spcPts val="2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An Empirically Audited Machine Learning and Stochastic Inventory Control Framework for Enterprise Replenishment Decision Support</a:t>
            </a:r>
          </a:p>
          <a:p>
            <a:pPr>
              <a:defRPr sz="1300">
                <a:solidFill>
                  <a:srgbClr val="DCE6F5"/>
                </a:solidFill>
                <a:latin typeface="Arial"/>
              </a:defRPr>
            </a:pPr>
            <a:r>
              <a:t>Authors: Sashank P., Abhinay Sai, Poli Naidu, and Sushama Rani Dutta</a:t>
            </a:r>
            <a:br/>
            <a:r>
              <a:t>Department of Computer Science and Engineering, Koneru Lakshmaiah Education Foundation</a:t>
            </a:r>
            <a:br/>
            <a:r>
              <a:t>Hyderabad, Telangana, India | Email: sashank.p@klh.edu.in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The Operational Dilemma: Why Statistical Point Accuracy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A4D8A"/>
                </a:solidFill>
                <a:latin typeface="Arial"/>
              </a:defRPr>
            </a:pPr>
            <a:r>
              <a:t>Fundamental Supply Chain Penalty Asymmetry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• Stockouts inflict catastrophic lost margins, contract default penalties, and permanent customer churn.</a:t>
            </a:r>
            <a:br/>
            <a:r>
              <a:t>• Over-buffering incurs marginal capital holding charges (~20%/yr). Shortage costs exceed holding costs by 10x-50x.</a:t>
            </a:r>
          </a:p>
          <a:p>
            <a:pPr>
              <a:spcBef>
                <a:spcPts val="800"/>
              </a:spcBef>
              <a:defRPr sz="1400" b="1">
                <a:solidFill>
                  <a:srgbClr val="1A4D8A"/>
                </a:solidFill>
                <a:latin typeface="Arial"/>
              </a:defRPr>
            </a:pPr>
            <a:r>
              <a:t>The Conventional ERP Flaw (Point Loss Leaderboards)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• Standard ML workflows evaluate algorithms strictly on symmetric loss functions: MAE, RMSE, and MAPE.</a:t>
            </a:r>
            <a:br/>
            <a:r>
              <a:t>• Symmetric loss treats a -10 unit under-forecast (stockout disaster) identically to a +10 unit over-forecast (minor buffer).</a:t>
            </a:r>
          </a:p>
          <a:p>
            <a:pPr>
              <a:spcBef>
                <a:spcPts val="800"/>
              </a:spcBef>
              <a:defRPr sz="1400" b="1">
                <a:solidFill>
                  <a:srgbClr val="1A4D8A"/>
                </a:solidFill>
                <a:latin typeface="Arial"/>
              </a:defRPr>
            </a:pPr>
            <a:r>
              <a:t>Theoretical Traps in ML Competitions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• Naive Log1p transforms introduce Jensen's Inequality deficits, causing -55.9% to -81.3% under-forecasting bias.</a:t>
            </a:r>
            <a:br/>
            <a:r>
              <a:t>• Tweedie compound Poisson-Gamma deviance diverges at zero (∂d/∂μ → ∞), driving negative drift (-11.9% to -18.0%).</a:t>
            </a:r>
          </a:p>
          <a:p>
            <a:pPr>
              <a:spcBef>
                <a:spcPts val="800"/>
              </a:spcBef>
              <a:defRPr sz="1400" b="1">
                <a:solidFill>
                  <a:srgbClr val="1A4D8A"/>
                </a:solidFill>
                <a:latin typeface="Arial"/>
              </a:defRPr>
            </a:pPr>
            <a:r>
              <a:t>The Proposed Solution (Closed-Loop Inventory Decision Support)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• A Tri-Criterion Operational Selection Rule (|Bias %| ≤ 5.0% constraint before error minimization).</a:t>
            </a:r>
            <a:br/>
            <a:r>
              <a:t>• Stochastic Continuous-Review (s, Q) replenishment sizing via Eve's Law of Total Variance.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System Architecture: End-to-End Closed-Loop Pipeline</a:t>
            </a:r>
          </a:p>
        </p:txBody>
      </p:sp>
      <p:pic>
        <p:nvPicPr>
          <p:cNvPr id="3" name="Picture 2" descr="fig1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51478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Key Pipeline Innovations: (1) Leakage-free expanding-window walk-forward validation; (2) Forward-filled price tracking eliminating lookahead leaks; (3) Multi-regime tree ensembles (LightGBM, XGBoost, Random Forest); (4) Platt-calibrated demand surge classification; (5) Closed-loop continuous-review (s, Q) replenishment engine governed by Trigg's tracking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Formal Mathematical Formulations and Theoretical Proofs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b="1">
                <a:solidFill>
                  <a:srgbClr val="1A4D8A"/>
                </a:solidFill>
                <a:latin typeface="Arial"/>
              </a:defRPr>
            </a:pPr>
            <a:r>
              <a:t>Theorem 1: Jensen's Inequality Retransformation Deficit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When models fit MSE on logarithmic targets z = ln(1+y), naive exponentiation ŷ = exp(ẑ) - 1 estimates the conditional geometric median rather than the conditional mean:</a:t>
            </a:r>
            <a:br/>
            <a:r>
              <a:t>E[ln(1 + Y)] &lt; ln(1 + E[Y])  ⟹  ŷ_naive = exp(ẑ) - 1 &lt; E[Y]</a:t>
            </a:r>
            <a:br/>
            <a:r>
              <a:t>Result: Systematic negative bias (-55.9% to -81.3%) starving continuous-review replenishment buffers.</a:t>
            </a:r>
          </a:p>
          <a:p>
            <a:pPr>
              <a:spcBef>
                <a:spcPts val="600"/>
              </a:spcBef>
              <a:defRPr sz="1300" b="1">
                <a:solidFill>
                  <a:srgbClr val="1A4D8A"/>
                </a:solidFill>
                <a:latin typeface="Arial"/>
              </a:defRPr>
            </a:pPr>
            <a:r>
              <a:t>Theorem 2: Tweedie Zero-Gradient Divergence at Zero Demand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For compound Poisson-Gamma deviance with power parameter p ∈ (1, 2) (p = 1.5):</a:t>
            </a:r>
            <a:br/>
            <a:r>
              <a:t>∂d(0, μ) / ∂μ = 2 / √μ  ⟹  lim_{μ → 0+} ∂d(0, μ) / ∂μ = +∞</a:t>
            </a:r>
            <a:br/>
            <a:r>
              <a:t>Result: Infinite gradient penalty at zero pushes positive predictions downward, forcing -11.9% under-forecasting.</a:t>
            </a:r>
          </a:p>
          <a:p>
            <a:pPr>
              <a:spcBef>
                <a:spcPts val="600"/>
              </a:spcBef>
              <a:defRPr sz="1300" b="1">
                <a:solidFill>
                  <a:srgbClr val="1A4D8A"/>
                </a:solidFill>
                <a:latin typeface="Arial"/>
              </a:defRPr>
            </a:pPr>
            <a:r>
              <a:t>Theorem 3: Stochastic Lead-Time Demand Sizing via Eve's Law of Total Variance</a:t>
            </a:r>
          </a:p>
          <a:p>
            <a:pPr>
              <a:spcBef>
                <a:spcPts val="2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Applying the Law of Total Variance across stochastic lead times L and residual forecast error variance σ_e^2:</a:t>
            </a:r>
            <a:br/>
            <a:r>
              <a:t>σ_{D_L}^2 = L̄ σ_e^2 + d̂^2 σ_L^2,    SS = Z_α σ_{D_L},    ROP = d̂ L̄ + SS,    EOQ = √((2 K D̂) / h)</a:t>
            </a:r>
            <a:br/>
            <a:r>
              <a:t>Result: Sizing buffers strictly from residual forecast error (σ_e) liberates 49.9% of safety buffer working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Empirical Results: Multi-Regime Holdout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4D8A"/>
                </a:solidFill>
                <a:latin typeface="Arial"/>
              </a:defRPr>
            </a:pPr>
            <a:r>
              <a:t>Cross-Regime Benchmark Findings: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Walmart Weekly Store Sales ($):</a:t>
            </a:r>
            <a:br/>
            <a:r>
              <a:t>• Random Forest achieved lowest holdout MAE of $35,624.48 (R² = 0.9905) with tight bias of -0.28%.</a:t>
            </a:r>
            <a:br/>
            <a:r>
              <a:t>• Outperformed persistence baselines (MAE $50,865) by 29.9%.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Online Retail Daily Wholesale Units:</a:t>
            </a:r>
            <a:br/>
            <a:r>
              <a:t>• Log1p XGBoost minimized raw MAE (72.2 u) but failed with -57.18% bias.</a:t>
            </a:r>
            <a:br/>
            <a:r>
              <a:t>• LightGBM Tweedie had -12.73% bias.</a:t>
            </a:r>
            <a:br/>
            <a:r>
              <a:t>• Tuned Random Forest (MAE 90.57 u, +3.14% bias) satisfied Policy C safeguard.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M5 Intermittent Grocery Sales (63.3% Zeros):</a:t>
            </a:r>
            <a:br/>
            <a:r>
              <a:t>• Croston SBA suffered -58.97% bias starvation.</a:t>
            </a:r>
            <a:br/>
            <a:r>
              <a:t>• XGBoost Tweedie under-forecast by -11.87%.</a:t>
            </a:r>
            <a:br/>
            <a:r>
              <a:t>• Random Forest provided robust anti-stockout buffer.</a:t>
            </a:r>
          </a:p>
        </p:txBody>
      </p:sp>
      <p:pic>
        <p:nvPicPr>
          <p:cNvPr id="4" name="Picture 3" descr="fig7_polic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394960" cy="1708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Replenishment Simulation: Policy Performance Across 8,000 Steps</a:t>
            </a:r>
          </a:p>
        </p:txBody>
      </p:sp>
      <p:pic>
        <p:nvPicPr>
          <p:cNvPr id="3" name="Picture 2" descr="fig7_polic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1737360"/>
          </a:xfrm>
          <a:prstGeom prst="rect">
            <a:avLst/>
          </a:prstGeom>
        </p:spPr>
      </p:pic>
      <p:pic>
        <p:nvPicPr>
          <p:cNvPr id="4" name="Picture 3" descr="fig8_surge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2112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C57"/>
                </a:solidFill>
                <a:latin typeface="Arial"/>
              </a:defRPr>
            </a:pPr>
            <a:r>
              <a:t>• Policy C (Bias-Constrained Champion): 100.0% Cycle Fill Rate, 0 Out-of-Stock Days, $9,210 Operating Cost (92.9% reduction vs. Policy B).</a:t>
            </a:r>
            <a:br/>
            <a:r>
              <a:t>• Policy B (Statistical Min MAE): 81.40% Fill Rate, 24 Stockout Days, $128,540 Operating Cost (Catastrophic Replenishment Starvation).</a:t>
            </a:r>
            <a:br/>
            <a:r>
              <a:t>• Surge Early Warning Classifier: Calibrated LightGBM achieved ROC AUC = 0.9278, Accuracy = 83.21%, Brier Score = 0.084.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4D8A"/>
                </a:solidFill>
                <a:latin typeface="Arial"/>
              </a:defRPr>
            </a:pPr>
            <a:r>
              <a:t>RESEARCH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02C57"/>
                </a:solidFill>
                <a:latin typeface="Arial"/>
              </a:defRPr>
            </a:pPr>
            <a:r>
              <a:t>Real-Time Telemetry, Conclusions &amp; Enterprise Recommendations</a:t>
            </a:r>
          </a:p>
        </p:txBody>
      </p:sp>
      <p:pic>
        <p:nvPicPr>
          <p:cNvPr id="3" name="Picture 2" descr="fig9_telemetry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227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4D8A"/>
                </a:solidFill>
                <a:latin typeface="Arial"/>
              </a:defRPr>
            </a:pPr>
            <a:r>
              <a:t>Strategic Insights &amp; Key Takeaways:</a:t>
            </a:r>
          </a:p>
          <a:p>
            <a:pPr>
              <a:spcBef>
                <a:spcPts val="4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1. Decouple ML Training from Evaluation:</a:t>
            </a:r>
            <a:br/>
            <a:r>
              <a:t>Never select enterprise replenishment models purely on symmetric statistical point metrics (MAE/RMSE).</a:t>
            </a:r>
          </a:p>
          <a:p>
            <a:pPr>
              <a:spcBef>
                <a:spcPts val="4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2. Enforce Operational Bias Safeguards:</a:t>
            </a:r>
            <a:br/>
            <a:r>
              <a:t>Mandate a strict percentage bias constraint (|Bias %| ≤ 5.0%) before ranking models by point error.</a:t>
            </a:r>
          </a:p>
          <a:p>
            <a:pPr>
              <a:spcBef>
                <a:spcPts val="4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3. Capital Optimization via Eve's Law:</a:t>
            </a:r>
            <a:br/>
            <a:r>
              <a:t>Derive safety stock buffers from residual forecast error variance (σ_e), slashing redundant working capital by 49.9%.</a:t>
            </a:r>
          </a:p>
          <a:p>
            <a:pPr>
              <a:spcBef>
                <a:spcPts val="4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4. Telemetry Exception Streaming:</a:t>
            </a:r>
            <a:br/>
            <a:r>
              <a:t>Employ Trigg's tracking signal to trigger automated model re-estimation before bias drift causes stockouts.</a:t>
            </a:r>
          </a:p>
          <a:p>
            <a:pPr>
              <a:spcBef>
                <a:spcPts val="400"/>
              </a:spcBef>
              <a:defRPr sz="1050">
                <a:solidFill>
                  <a:srgbClr val="282828"/>
                </a:solidFill>
                <a:latin typeface="Arial"/>
              </a:defRPr>
            </a:pPr>
            <a:r>
              <a:t>5. Reproducibility:</a:t>
            </a:r>
            <a:br/>
            <a:r>
              <a:t>Full suite of 90 unit/regression tests passing, runnable on Google Colab.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